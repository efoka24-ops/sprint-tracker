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00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7900"/>
                </a:solidFill>
              </a:rPr>
              <a:t>DESIGN AUTHORITY 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SPRINT TRACKER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2788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</a:rPr>
              <a:t>Pilotage de la capacité, de l’engagement et des instances de validation d’une squad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3246120"/>
            <a:ext cx="914400" cy="45720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CCCCC"/>
                </a:solidFill>
              </a:rPr>
              <a:t>ID Perfit (Demande) : À affecter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CCCCC"/>
                </a:solidFill>
              </a:rPr>
              <a:t>Porteur : FOKA Emmanuel / FOGUE Hervé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CCCCC"/>
                </a:solidFill>
              </a:rPr>
              <a:t>Squad Digital · 27/08/2026 · v1.0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00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7"/>
                </a:solidFill>
              </a:rPr>
              <a:t>Synthèse de cette version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00"/>
                </a:solidFill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6642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7"/>
                </a:solidFill>
              </a:rPr>
              <a:t>Description de la demande / du projet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3969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00"/>
                </a:solidFill>
              </a:rPr>
              <a:t>03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21396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7"/>
                </a:solidFill>
              </a:rPr>
              <a:t>Workflow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1518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00"/>
                </a:solidFill>
              </a:rPr>
              <a:t>04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6151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7"/>
                </a:solidFill>
              </a:rPr>
              <a:t>Architecture fonctionnelle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0906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00"/>
                </a:solidFill>
              </a:rPr>
              <a:t>05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30906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7"/>
                </a:solidFill>
              </a:rPr>
              <a:t>Diagramme des cas d’utilisation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00"/>
                </a:solidFill>
              </a:rPr>
              <a:t>06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566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7"/>
                </a:solidFill>
              </a:rPr>
              <a:t>Diagramme de séquence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0416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00"/>
                </a:solidFill>
              </a:rPr>
              <a:t>07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40416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7"/>
                </a:solidFill>
              </a:rPr>
              <a:t>Architecture des données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1188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00"/>
                </a:solidFill>
              </a:rPr>
              <a:t>08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7488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7"/>
                </a:solidFill>
              </a:rPr>
              <a:t>Architecture applicative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16642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00"/>
                </a:solidFill>
              </a:rPr>
              <a:t>09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47488" y="16642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7"/>
                </a:solidFill>
              </a:rPr>
              <a:t>Architecture technique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13969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00"/>
                </a:solidFill>
              </a:rPr>
              <a:t>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47488" y="21396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7"/>
                </a:solidFill>
              </a:rPr>
              <a:t>Matrice des flux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261518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00"/>
                </a:solidFill>
              </a:rPr>
              <a:t>11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47488" y="26151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7"/>
                </a:solidFill>
              </a:rPr>
              <a:t>Stratégie de migration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30906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00"/>
                </a:solidFill>
              </a:rPr>
              <a:t>12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47488" y="30906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7"/>
                </a:solidFill>
              </a:rPr>
              <a:t>Monitoring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35661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00"/>
                </a:solidFill>
              </a:rPr>
              <a:t>13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47488" y="3566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7"/>
                </a:solidFill>
              </a:rPr>
              <a:t>Exigences Core Network et Adressage IP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40416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00"/>
                </a:solidFill>
              </a:rPr>
              <a:t>14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47488" y="40416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7"/>
                </a:solidFill>
              </a:rPr>
              <a:t>Décision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572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28C"/>
                </a:solidFill>
              </a:rPr>
              <a:t>Mise en œuvre d’un référentiel unique de pilotage de sprint pour les squads d’Orange Cameroun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Synthèse de cette version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858"/>
                </a:solidFill>
              </a:rPr>
              <a:t>Caractéristique principale de la version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39319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40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Nature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A17"/>
                          </a:solidFill>
                        </a:rPr>
                        <a:t>Évolution technique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A17"/>
                          </a:solidFill>
                        </a:rPr>
                        <a:t>Évolution fonctionnelle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A17"/>
                          </a:solidFill>
                        </a:rPr>
                        <a:t>Upgrade, migration ou déménagement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A17"/>
                          </a:solidFill>
                        </a:rPr>
                        <a:t>Création (nouvelle application ou service)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A17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09160" y="960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858"/>
                </a:solidFill>
              </a:rPr>
              <a:t>Typologie d’application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80160"/>
          <a:ext cx="39319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40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Typologie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A17"/>
                          </a:solidFill>
                        </a:rPr>
                        <a:t>Application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A17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A17"/>
                          </a:solidFill>
                        </a:rPr>
                        <a:t>Plateforme de service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A17"/>
                          </a:solidFill>
                        </a:rPr>
                        <a:t>Infrastructure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A17"/>
                          </a:solidFill>
                        </a:rPr>
                        <a:t>Outil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148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858"/>
                </a:solidFill>
              </a:rPr>
              <a:t>En un mot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11480" y="345643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1A17"/>
                </a:solidFill>
              </a:rPr>
              <a:t>Création d’une application web interne remplaçant le classeur Excel partagé de suivi de sprint. Le socle est en service sur la Squad Digital ; le présent DAB porte la validation de son design avant industrialisation et ouverture aux autres squads.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Description de la demande / du projet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28C"/>
                </a:solidFill>
              </a:rPr>
              <a:t>Contexte et problématique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858"/>
                </a:solidFill>
              </a:rPr>
              <a:t>Contexte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1A17"/>
                </a:solidFill>
              </a:rPr>
              <a:t>Le suivi des objectifs d’un sprint se tient aujourd’hui dans un classeur Excel partagé : capacité de l’équipe, engagement des projets, avancement hebdomadaire et documents exigés en instance de validation.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1A17"/>
                </a:solidFill>
              </a:rPr>
              <a:t>À chaque point d’avancement où le sprint dérivait, la question « pourquoi ? » restait sans réponse étayée. L’équipe avait la sensation, désagréable et récurrente, de ne pas disposer des éléments de réponse.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1A17"/>
                </a:solidFill>
              </a:rPr>
              <a:t>Sprint Tracker constitue le référentiel unique et calculé de ces éléments.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09160" y="960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858"/>
                </a:solidFill>
              </a:rPr>
              <a:t>Problématique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09160" y="1280160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B1A17"/>
                </a:solidFill>
              </a:rPr>
              <a:t>Capacité de sprint posée à la main, sans lien avec les congés, les fériés ni la composition réelle de l’équipe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B1A17"/>
                </a:solidFill>
              </a:rPr>
              <a:t>Enveloppe de faisabilité recopiée chaque semaine : 280 h de projet affichées en 640 h, total à 1 116 h pour 600 h disponibles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B1A17"/>
                </a:solidFill>
              </a:rPr>
              <a:t>Impossibilité de justifier objectivement l’écart entre le prévu et le livré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B1A17"/>
                </a:solidFill>
              </a:rPr>
              <a:t>Documents exigés en DAB et CAB vérifiés de mémoire ; dossier incomplet découvert en comité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B1A17"/>
                </a:solidFill>
              </a:rPr>
              <a:t>Aucune visibilité sur la charge réelle par développeur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Description de la demande / du projet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28C"/>
                </a:solidFill>
              </a:rPr>
              <a:t>Enjeux et bénéfices attendus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858"/>
                </a:solidFill>
              </a:rPr>
              <a:t>Enjeux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B1A17"/>
                </a:solidFill>
              </a:rPr>
              <a:t>Fonder le pilotage sur une capacité calculée et non déclarée</a:t>
            </a:r>
            <a:endParaRPr lang="en-US" sz="10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B1A17"/>
                </a:solidFill>
              </a:rPr>
              <a:t>Rendre l’engagement lisible et comparable à la capacité</a:t>
            </a:r>
            <a:endParaRPr lang="en-US" sz="10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B1A17"/>
                </a:solidFill>
              </a:rPr>
              <a:t>Tracer les instances de validation DAB et CAB</a:t>
            </a:r>
            <a:endParaRPr lang="en-US" sz="10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B1A17"/>
                </a:solidFill>
              </a:rPr>
              <a:t>Objectiver l’écart entre le prévu et le livré</a:t>
            </a:r>
            <a:endParaRPr lang="en-US" sz="10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1B1A17"/>
                </a:solidFill>
              </a:rPr>
              <a:t>Préparer la fédération des identités et l’ouverture multi-squads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29000" y="9601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858"/>
                </a:solidFill>
              </a:rPr>
              <a:t>Bénéfices attendus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0" y="1280160"/>
          <a:ext cx="53035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Axe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Bénéfices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Fiabilité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Capacité déduite du calendrier, de l’effectif et des absences — jamais saisie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Lisibilité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Engagement issu des faisabilités, comparé en une ligne à la capacité du sprint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Conformité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Passage en instance bloqué tant que les documents exigés ne sont pas validés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Traçabilité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Validation nominative et horodatée, historique des changements de statut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Pilotage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Bande passante par développeur : disponible, engagé, consommé, restant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Sécurité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Droits portés par le rôle, périmètre borné à la squad, cible Keycloak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Description de la demande / du projet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28C"/>
                </a:solidFill>
              </a:rPr>
              <a:t>Cible et périmètre fonctionnel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858"/>
                </a:solidFill>
              </a:rPr>
              <a:t>Cible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1A17"/>
                </a:solidFill>
              </a:rPr>
              <a:t>Scrum Masters · Tech Leads · Développeurs · Observateurs métier · Super administrateur de la plateforme. Périmètre initial : Squad Digital, 6 collaborateurs. Extension aux autres squads sans modification du socle.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858"/>
                </a:solidFill>
              </a:rPr>
              <a:t>Périmètre fonctionnel du MVP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965960"/>
          <a:ext cx="8321040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Inclus dans le MVP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Renvoyé en V2 / ultérieur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Squads, comptes et rôles ; cinq rôles métier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Fédération des identités par Keycloak et AD Orange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Sprints découpés en semaines de revue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Rôle Product Owner et signatures multiples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Capacité calculée : effectif, fériés, congés, daily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Report automatique des heures non planifiées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Portefeuille projets : enveloppe, story points, porteurs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Réconciliation avec le référentiel Perfit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Objectifs hebdomadaires et bande passante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Notifications et relances automatiques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Checklists SDD, Tests, DAB, CAB ACL, CAB Go Live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Dépôt du dossier signé sur Documenso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Réunion de validation, rallonges, clôture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Chaîne de validation fermée à la signature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Rétrospective, rapport, export CSV et PPTX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Reporting transverse multi-squads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Tableau public sans authentification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Tableaux de bord de direction</a:t>
                      </a:r>
                      <a:endParaRPr lang="en-US" sz="95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28C"/>
                </a:solidFill>
              </a:rPr>
              <a:t>Vue d’ensemble du cycle de pilotage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29844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7276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4858"/>
                </a:solidFill>
              </a:rPr>
              <a:t>Cadrage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" y="1837944"/>
            <a:ext cx="11521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Faisabilité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Enveloppe + SP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09928" y="1947672"/>
            <a:ext cx="118872" cy="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28800" y="1508760"/>
            <a:ext cx="129844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57276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4858"/>
                </a:solidFill>
              </a:rPr>
              <a:t>Portefeuille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01952" y="1837944"/>
            <a:ext cx="11521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Projet créé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Porteurs désignés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27248" y="1947672"/>
            <a:ext cx="118872" cy="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46120" y="1508760"/>
            <a:ext cx="129844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57276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4858"/>
                </a:solidFill>
              </a:rPr>
              <a:t>Sprint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9272" y="1837944"/>
            <a:ext cx="11521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Période découpée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Capacité calculée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44568" y="1947672"/>
            <a:ext cx="118872" cy="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63440" y="1508760"/>
            <a:ext cx="129844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57276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4858"/>
                </a:solidFill>
              </a:rPr>
              <a:t>Planification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36592" y="1837944"/>
            <a:ext cx="11521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Objectifs hebdo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bornés par capacité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61888" y="1947672"/>
            <a:ext cx="118872" cy="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80760" y="1508760"/>
            <a:ext cx="129844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57276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4858"/>
                </a:solidFill>
              </a:rPr>
              <a:t>Exécution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53912" y="1837944"/>
            <a:ext cx="11521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Statuts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Checklists DAB/CAB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79208" y="1947672"/>
            <a:ext cx="118872" cy="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98080" y="1508760"/>
            <a:ext cx="129844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FF7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572768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900"/>
                </a:solidFill>
              </a:rPr>
              <a:t>Revue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571232" y="1837944"/>
            <a:ext cx="11521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Vendredi : réel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validation, clôture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2788920"/>
            <a:ext cx="8321040" cy="18288"/>
          </a:xfrm>
          <a:prstGeom prst="rect">
            <a:avLst/>
          </a:prstGeom>
          <a:solidFill>
            <a:srgbClr val="D8D5CE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2926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</a:rPr>
              <a:t>Contrôles bloquants appliqués par le système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200400"/>
          <a:ext cx="8321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56616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Étape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Contrôle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Refus si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Portefeuille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Unicité du ticket Perfit dans la squad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Ticket déjà porté par un autre projet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Planification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Somme des heures ≤ capacité hebdomadaire du porteur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L’enveloppe du projet est saisie sur la semaine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Exécution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Checklist prérequise validée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Passage en DAB sans SDD ni Cahier des tests validés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Revue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Droit de validation et périmètre de squad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Rôle non habilité ou sprint d’une autre squad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28C"/>
                </a:solidFill>
              </a:rPr>
              <a:t>Chaîne des instances de validation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2F4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858"/>
                </a:solidFill>
              </a:rPr>
              <a:t>SDD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28C"/>
                </a:solidFill>
              </a:rPr>
              <a:t>niveau Sprint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645920" y="1783080"/>
            <a:ext cx="237744" cy="0"/>
          </a:xfrm>
          <a:prstGeom prst="line">
            <a:avLst/>
          </a:prstGeom>
          <a:noFill/>
          <a:ln w="15875">
            <a:solidFill>
              <a:srgbClr val="2F485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83664" y="141732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2F48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83664" y="148132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4858"/>
                </a:solidFill>
              </a:rPr>
              <a:t>Cahier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F4858"/>
                </a:solidFill>
              </a:rPr>
              <a:t>des tests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83664" y="18836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28C"/>
                </a:solidFill>
              </a:rPr>
              <a:t>niveau Sprint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072384" y="1783080"/>
            <a:ext cx="237744" cy="0"/>
          </a:xfrm>
          <a:prstGeom prst="line">
            <a:avLst/>
          </a:prstGeom>
          <a:noFill/>
          <a:ln w="15875">
            <a:solidFill>
              <a:srgbClr val="2F485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10128" y="141732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FF7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48132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900"/>
                </a:solidFill>
              </a:rPr>
              <a:t>DAB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18836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28C"/>
                </a:solidFill>
              </a:rPr>
              <a:t>niveau Ticket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498848" y="1783080"/>
            <a:ext cx="237744" cy="0"/>
          </a:xfrm>
          <a:prstGeom prst="line">
            <a:avLst/>
          </a:prstGeom>
          <a:noFill/>
          <a:ln w="15875">
            <a:solidFill>
              <a:srgbClr val="FF79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36592" y="141732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FF7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148132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900"/>
                </a:solidFill>
              </a:rPr>
              <a:t>CAB ACL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18836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28C"/>
                </a:solidFill>
              </a:rPr>
              <a:t>niveau Ticket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925312" y="1783080"/>
            <a:ext cx="237744" cy="0"/>
          </a:xfrm>
          <a:prstGeom prst="line">
            <a:avLst/>
          </a:prstGeom>
          <a:noFill/>
          <a:ln w="15875">
            <a:solidFill>
              <a:srgbClr val="FF79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63056" y="141732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FF7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148132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900"/>
                </a:solidFill>
              </a:rPr>
              <a:t>CAB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7900"/>
                </a:solidFill>
              </a:rPr>
              <a:t>Go Live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63056" y="18836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28C"/>
                </a:solidFill>
              </a:rPr>
              <a:t>niveau Ticket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351776" y="1783080"/>
            <a:ext cx="237744" cy="0"/>
          </a:xfrm>
          <a:prstGeom prst="line">
            <a:avLst/>
          </a:prstGeom>
          <a:noFill/>
          <a:ln w="15875">
            <a:solidFill>
              <a:srgbClr val="FF790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589520" y="141732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F8A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148132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8A4C"/>
                </a:solidFill>
              </a:rPr>
              <a:t>Live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18836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28C"/>
                </a:solidFill>
              </a:rPr>
              <a:t>niveau Ticket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1A17"/>
                </a:solidFill>
              </a:rPr>
              <a:t>Chaque jalon exige la validation complète du précédent. Une checklist ne se valide qu’une fois tous ses items cochés ; la validation est nominative et horodatée, et fige les cases.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12648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Instance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Documents exigés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Items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SDD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Spécifications validées, critères d’acceptation, US priorisées, dépendances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Cahier des tests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Scénarios, régression, critères succès/échec, environnement, jeux de données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DAB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Document technique, schémas d’architecture, contexte, demandes BD et ACL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CAB ACL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Ticket SWAN, sécurité JM, qualification, montée en charge, mode opératoire, rollback, notifications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CAB Go Live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Ticket SWAN, sécurité JM Prod, tests business, montée en charge, mode de MEP, rollback testé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Architecture fonctionnelle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9202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612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4858"/>
                </a:solidFill>
              </a:rPr>
              <a:t>Référentiel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4632" y="1426464"/>
            <a:ext cx="17739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Squads, comptes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Rôles et droits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Jours fériés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42032" y="1097280"/>
            <a:ext cx="19202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1612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4858"/>
                </a:solidFill>
              </a:rPr>
              <a:t>Cadrage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15184" y="1426464"/>
            <a:ext cx="17739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Projets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Enveloppes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Porteurs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72584" y="1097280"/>
            <a:ext cx="19202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1612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4858"/>
                </a:solidFill>
              </a:rPr>
              <a:t>Planification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45736" y="1426464"/>
            <a:ext cx="17739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Sprints, semaines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Capacité calculée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Objectifs hebdo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03136" y="1097280"/>
            <a:ext cx="19202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3136" y="11612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4858"/>
                </a:solidFill>
              </a:rPr>
              <a:t>Conformité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76288" y="1426464"/>
            <a:ext cx="17739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Référentiel checklist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Instances DAB/CAB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Validations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606040"/>
            <a:ext cx="19202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700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4858"/>
                </a:solidFill>
              </a:rPr>
              <a:t>Exécution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" y="2935224"/>
            <a:ext cx="17739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Statuts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Heures réelles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Rallonges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42032" y="2606040"/>
            <a:ext cx="19202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26700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4858"/>
                </a:solidFill>
              </a:rPr>
              <a:t>Revue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15184" y="2935224"/>
            <a:ext cx="17739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Validation vendredi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Clôture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Rétrospective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72584" y="2606040"/>
            <a:ext cx="19202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72584" y="26700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4858"/>
                </a:solidFill>
              </a:rPr>
              <a:t>Restitution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45736" y="2935224"/>
            <a:ext cx="17739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Rapport, PPTX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Export CSV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Tableau public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03136" y="2606040"/>
            <a:ext cx="19202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FF7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26700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900"/>
                </a:solidFill>
              </a:rPr>
              <a:t>Sécurité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76288" y="2935224"/>
            <a:ext cx="17739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Session signée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Périmètre squad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Cible Keycloak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31720" y="1645920"/>
            <a:ext cx="210312" cy="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462272" y="1645920"/>
            <a:ext cx="210312" cy="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592824" y="1645920"/>
            <a:ext cx="210312" cy="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331720" y="3154680"/>
            <a:ext cx="210312" cy="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462272" y="3154680"/>
            <a:ext cx="210312" cy="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592824" y="3154680"/>
            <a:ext cx="210312" cy="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763256" y="2194560"/>
            <a:ext cx="0" cy="41148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411480" y="3931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1A17"/>
                </a:solidFill>
              </a:rPr>
              <a:t>Le référentiel alimente le cadrage, qui alimente la planification ; la conformité conditionne l’avancement en exécution. La sécurité est transverse : le rôle porte le droit, le périmètre borne la donnée.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Diagramme des cas d’utilisation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618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Super admin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1480" y="17830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01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Scrum Master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4231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42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 Lead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30632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1821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Développeur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7033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8221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Observateur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20640" y="1143000"/>
            <a:ext cx="356616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FF7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2618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A17"/>
                </a:solidFill>
              </a:rPr>
              <a:t>Administrer comptes et rôles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783080" y="1371600"/>
            <a:ext cx="3337560" cy="0"/>
          </a:xfrm>
          <a:prstGeom prst="line">
            <a:avLst/>
          </a:prstGeom>
          <a:noFill/>
          <a:ln w="9525">
            <a:solidFill>
              <a:srgbClr val="CFCB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1737360"/>
            <a:ext cx="356616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FF7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8562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A17"/>
                </a:solidFill>
              </a:rPr>
              <a:t>Gérer squad, sprints et projets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783080" y="1371600"/>
            <a:ext cx="3337560" cy="594360"/>
          </a:xfrm>
          <a:prstGeom prst="line">
            <a:avLst/>
          </a:prstGeom>
          <a:noFill/>
          <a:ln w="9525">
            <a:solidFill>
              <a:srgbClr val="CFCB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2011680"/>
            <a:ext cx="3337560" cy="-45720"/>
          </a:xfrm>
          <a:prstGeom prst="line">
            <a:avLst/>
          </a:prstGeom>
          <a:noFill/>
          <a:ln w="9525">
            <a:solidFill>
              <a:srgbClr val="CFCB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2331720"/>
            <a:ext cx="356616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FF7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4505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A17"/>
                </a:solidFill>
              </a:rPr>
              <a:t>Affecter les objectifs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783080" y="1371600"/>
            <a:ext cx="3337560" cy="1188720"/>
          </a:xfrm>
          <a:prstGeom prst="line">
            <a:avLst/>
          </a:prstGeom>
          <a:noFill/>
          <a:ln w="9525">
            <a:solidFill>
              <a:srgbClr val="CFCB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2011680"/>
            <a:ext cx="3337560" cy="548640"/>
          </a:xfrm>
          <a:prstGeom prst="line">
            <a:avLst/>
          </a:prstGeom>
          <a:noFill/>
          <a:ln w="9525">
            <a:solidFill>
              <a:srgbClr val="CFCB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2926080"/>
            <a:ext cx="356616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FF7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0449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A17"/>
                </a:solidFill>
              </a:rPr>
              <a:t>Valider checklists et objectifs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783080" y="1371600"/>
            <a:ext cx="3337560" cy="1783080"/>
          </a:xfrm>
          <a:prstGeom prst="line">
            <a:avLst/>
          </a:prstGeom>
          <a:noFill/>
          <a:ln w="9525">
            <a:solidFill>
              <a:srgbClr val="CFCB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83080" y="2011680"/>
            <a:ext cx="3337560" cy="1143000"/>
          </a:xfrm>
          <a:prstGeom prst="line">
            <a:avLst/>
          </a:prstGeom>
          <a:noFill/>
          <a:ln w="9525">
            <a:solidFill>
              <a:srgbClr val="CFCB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83080" y="2651760"/>
            <a:ext cx="3337560" cy="502920"/>
          </a:xfrm>
          <a:prstGeom prst="line">
            <a:avLst/>
          </a:prstGeom>
          <a:noFill/>
          <a:ln w="9525">
            <a:solidFill>
              <a:srgbClr val="CFCB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3520440"/>
            <a:ext cx="356616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FF79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6393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A17"/>
                </a:solidFill>
              </a:rPr>
              <a:t>Saisir ses objectifs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783080" y="1371600"/>
            <a:ext cx="3337560" cy="2377440"/>
          </a:xfrm>
          <a:prstGeom prst="line">
            <a:avLst/>
          </a:prstGeom>
          <a:noFill/>
          <a:ln w="9525">
            <a:solidFill>
              <a:srgbClr val="CFCBC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83080" y="2011680"/>
            <a:ext cx="3337560" cy="1737360"/>
          </a:xfrm>
          <a:prstGeom prst="line">
            <a:avLst/>
          </a:prstGeom>
          <a:noFill/>
          <a:ln w="9525">
            <a:solidFill>
              <a:srgbClr val="CFCBC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83080" y="2651760"/>
            <a:ext cx="3337560" cy="1097280"/>
          </a:xfrm>
          <a:prstGeom prst="line">
            <a:avLst/>
          </a:prstGeom>
          <a:noFill/>
          <a:ln w="9525">
            <a:solidFill>
              <a:srgbClr val="CFCBC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83080" y="3291840"/>
            <a:ext cx="3337560" cy="457200"/>
          </a:xfrm>
          <a:prstGeom prst="line">
            <a:avLst/>
          </a:prstGeom>
          <a:noFill/>
          <a:ln w="9525">
            <a:solidFill>
              <a:srgbClr val="CFCBC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20640" y="4114800"/>
            <a:ext cx="356616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FF79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42336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A17"/>
                </a:solidFill>
              </a:rPr>
              <a:t>Consulter et exporter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783080" y="1371600"/>
            <a:ext cx="3337560" cy="2971800"/>
          </a:xfrm>
          <a:prstGeom prst="line">
            <a:avLst/>
          </a:prstGeom>
          <a:noFill/>
          <a:ln w="9525">
            <a:solidFill>
              <a:srgbClr val="CFCBC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83080" y="2011680"/>
            <a:ext cx="3337560" cy="2331720"/>
          </a:xfrm>
          <a:prstGeom prst="line">
            <a:avLst/>
          </a:prstGeom>
          <a:noFill/>
          <a:ln w="9525">
            <a:solidFill>
              <a:srgbClr val="CFCBC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3080" y="2651760"/>
            <a:ext cx="3337560" cy="1691640"/>
          </a:xfrm>
          <a:prstGeom prst="line">
            <a:avLst/>
          </a:prstGeom>
          <a:noFill/>
          <a:ln w="9525">
            <a:solidFill>
              <a:srgbClr val="CFCBC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83080" y="3291840"/>
            <a:ext cx="3337560" cy="1051560"/>
          </a:xfrm>
          <a:prstGeom prst="line">
            <a:avLst/>
          </a:prstGeom>
          <a:noFill/>
          <a:ln w="9525">
            <a:solidFill>
              <a:srgbClr val="CFCBC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83080" y="3931920"/>
            <a:ext cx="3337560" cy="411480"/>
          </a:xfrm>
          <a:prstGeom prst="line">
            <a:avLst/>
          </a:prstGeom>
          <a:noFill/>
          <a:ln w="9525">
            <a:solidFill>
              <a:srgbClr val="CFCB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6451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8C"/>
                </a:solidFill>
              </a:rPr>
              <a:t>Un rôle hérite des cas des rôles moins privilégiés. Un acteur sans droit sur un cas n’en voit pas l’écran.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Diagramme de séquence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28C"/>
                </a:solidFill>
              </a:rPr>
              <a:t>Saisie d’un objectif et contrôle de capacité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8872" y="1005840"/>
            <a:ext cx="1133856" cy="365760"/>
          </a:xfrm>
          <a:prstGeom prst="roundRect">
            <a:avLst>
              <a:gd name="adj" fmla="val 12500"/>
            </a:avLst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" y="1078992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Développeur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0" cy="2880360"/>
          </a:xfrm>
          <a:prstGeom prst="line">
            <a:avLst/>
          </a:prstGeom>
          <a:noFill/>
          <a:ln w="9525">
            <a:solidFill>
              <a:srgbClr val="D8D5C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856232" y="1005840"/>
            <a:ext cx="1133856" cy="365760"/>
          </a:xfrm>
          <a:prstGeom prst="roundRect">
            <a:avLst>
              <a:gd name="adj" fmla="val 12500"/>
            </a:avLst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56232" y="1078992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Écran Saisie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23160" y="1371600"/>
            <a:ext cx="0" cy="2880360"/>
          </a:xfrm>
          <a:prstGeom prst="line">
            <a:avLst/>
          </a:prstGeom>
          <a:noFill/>
          <a:ln w="9525">
            <a:solidFill>
              <a:srgbClr val="D8D5C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85032" y="1005840"/>
            <a:ext cx="1133856" cy="365760"/>
          </a:xfrm>
          <a:prstGeom prst="roundRect">
            <a:avLst>
              <a:gd name="adj" fmla="val 12500"/>
            </a:avLst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1078992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API Objectifs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51960" y="1371600"/>
            <a:ext cx="0" cy="2880360"/>
          </a:xfrm>
          <a:prstGeom prst="line">
            <a:avLst/>
          </a:prstGeom>
          <a:noFill/>
          <a:ln w="9525">
            <a:solidFill>
              <a:srgbClr val="D8D5CE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513832" y="1005840"/>
            <a:ext cx="1133856" cy="365760"/>
          </a:xfrm>
          <a:prstGeom prst="roundRect">
            <a:avLst>
              <a:gd name="adj" fmla="val 12500"/>
            </a:avLst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1078992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Règles métier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0760" y="1371600"/>
            <a:ext cx="0" cy="2880360"/>
          </a:xfrm>
          <a:prstGeom prst="line">
            <a:avLst/>
          </a:prstGeom>
          <a:noFill/>
          <a:ln w="9525">
            <a:solidFill>
              <a:srgbClr val="D8D5CE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296912" y="1005840"/>
            <a:ext cx="1133856" cy="365760"/>
          </a:xfrm>
          <a:prstGeom prst="roundRect">
            <a:avLst>
              <a:gd name="adj" fmla="val 12500"/>
            </a:avLst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96912" y="1078992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PostgreSQL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863840" y="1371600"/>
            <a:ext cx="0" cy="2880360"/>
          </a:xfrm>
          <a:prstGeom prst="line">
            <a:avLst/>
          </a:prstGeom>
          <a:noFill/>
          <a:ln w="9525">
            <a:solidFill>
              <a:srgbClr val="D8D5C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85800" y="1645920"/>
            <a:ext cx="1737360" cy="0"/>
          </a:xfrm>
          <a:prstGeom prst="line">
            <a:avLst/>
          </a:prstGeom>
          <a:noFill/>
          <a:ln w="12700">
            <a:solidFill>
              <a:srgbClr val="2F485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22376" y="1417320"/>
            <a:ext cx="166420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A17"/>
                </a:solidFill>
              </a:rPr>
              <a:t>Saisit ticket, projet, heures de la semaine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423160" y="1938528"/>
            <a:ext cx="1828800" cy="0"/>
          </a:xfrm>
          <a:prstGeom prst="line">
            <a:avLst/>
          </a:prstGeom>
          <a:noFill/>
          <a:ln w="12700">
            <a:solidFill>
              <a:srgbClr val="2F485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459736" y="1709928"/>
            <a:ext cx="17556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A17"/>
                </a:solidFill>
              </a:rPr>
              <a:t>POST /api/entrees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251960" y="2231136"/>
            <a:ext cx="1828800" cy="0"/>
          </a:xfrm>
          <a:prstGeom prst="line">
            <a:avLst/>
          </a:prstGeom>
          <a:noFill/>
          <a:ln w="12700">
            <a:solidFill>
              <a:srgbClr val="2F485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288536" y="2002536"/>
            <a:ext cx="17556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A17"/>
                </a:solidFill>
              </a:rPr>
              <a:t>Vérifie droit, périmètre, semaine ouverte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80760" y="2523744"/>
            <a:ext cx="1783080" cy="0"/>
          </a:xfrm>
          <a:prstGeom prst="line">
            <a:avLst/>
          </a:prstGeom>
          <a:noFill/>
          <a:ln w="12700">
            <a:solidFill>
              <a:srgbClr val="2F485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117336" y="2295144"/>
            <a:ext cx="17099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A17"/>
                </a:solidFill>
              </a:rPr>
              <a:t>Lit congés, fériés, autres objectifs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080760" y="2816352"/>
            <a:ext cx="1783080" cy="0"/>
          </a:xfrm>
          <a:prstGeom prst="line">
            <a:avLst/>
          </a:prstGeom>
          <a:noFill/>
          <a:ln w="12700">
            <a:solidFill>
              <a:srgbClr val="7B828C"/>
            </a:solidFill>
            <a:prstDash val="dash"/>
            <a:headEnd type="triangle"/>
          </a:ln>
        </p:spPr>
      </p:sp>
      <p:sp>
        <p:nvSpPr>
          <p:cNvPr id="30" name="Text 28"/>
          <p:cNvSpPr/>
          <p:nvPr/>
        </p:nvSpPr>
        <p:spPr>
          <a:xfrm>
            <a:off x="6117336" y="2587752"/>
            <a:ext cx="17099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28C"/>
                </a:solidFill>
              </a:rPr>
              <a:t>Capacité hebdomadaire du porteur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251960" y="3108960"/>
            <a:ext cx="1828800" cy="0"/>
          </a:xfrm>
          <a:prstGeom prst="line">
            <a:avLst/>
          </a:prstGeom>
          <a:noFill/>
          <a:ln w="12700">
            <a:solidFill>
              <a:srgbClr val="7B828C"/>
            </a:solidFill>
            <a:prstDash val="dash"/>
            <a:headEnd type="triangle"/>
          </a:ln>
        </p:spPr>
      </p:sp>
      <p:sp>
        <p:nvSpPr>
          <p:cNvPr id="32" name="Text 30"/>
          <p:cNvSpPr/>
          <p:nvPr/>
        </p:nvSpPr>
        <p:spPr>
          <a:xfrm>
            <a:off x="4288536" y="2880360"/>
            <a:ext cx="17556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28C"/>
                </a:solidFill>
              </a:rPr>
              <a:t>Somme des heures ≤ capacité ?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251960" y="3401568"/>
            <a:ext cx="3611880" cy="0"/>
          </a:xfrm>
          <a:prstGeom prst="line">
            <a:avLst/>
          </a:prstGeom>
          <a:noFill/>
          <a:ln w="12700">
            <a:solidFill>
              <a:srgbClr val="2F485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4288536" y="3172968"/>
            <a:ext cx="353872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A17"/>
                </a:solidFill>
              </a:rPr>
              <a:t>Enregistre l’objectif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423160" y="3694176"/>
            <a:ext cx="1828800" cy="0"/>
          </a:xfrm>
          <a:prstGeom prst="line">
            <a:avLst/>
          </a:prstGeom>
          <a:noFill/>
          <a:ln w="12700">
            <a:solidFill>
              <a:srgbClr val="7B828C"/>
            </a:solidFill>
            <a:prstDash val="dash"/>
            <a:headEnd type="triangle"/>
          </a:ln>
        </p:spPr>
      </p:sp>
      <p:sp>
        <p:nvSpPr>
          <p:cNvPr id="36" name="Text 34"/>
          <p:cNvSpPr/>
          <p:nvPr/>
        </p:nvSpPr>
        <p:spPr>
          <a:xfrm>
            <a:off x="2459736" y="3465576"/>
            <a:ext cx="17556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28C"/>
                </a:solidFill>
              </a:rPr>
              <a:t>201 — objectif créé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85800" y="3986784"/>
            <a:ext cx="1737360" cy="0"/>
          </a:xfrm>
          <a:prstGeom prst="line">
            <a:avLst/>
          </a:prstGeom>
          <a:noFill/>
          <a:ln w="12700">
            <a:solidFill>
              <a:srgbClr val="7B828C"/>
            </a:solidFill>
            <a:prstDash val="dash"/>
            <a:headEnd type="triangle"/>
          </a:ln>
        </p:spPr>
      </p:sp>
      <p:sp>
        <p:nvSpPr>
          <p:cNvPr id="38" name="Text 36"/>
          <p:cNvSpPr/>
          <p:nvPr/>
        </p:nvSpPr>
        <p:spPr>
          <a:xfrm>
            <a:off x="722376" y="3758184"/>
            <a:ext cx="166420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28C"/>
                </a:solidFill>
              </a:rPr>
              <a:t>Bande passante mise à jour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343400" y="4297680"/>
            <a:ext cx="3840480" cy="292608"/>
          </a:xfrm>
          <a:prstGeom prst="rect">
            <a:avLst/>
          </a:prstGeom>
          <a:solidFill>
            <a:srgbClr val="FBF0E7"/>
          </a:solidFill>
          <a:ln w="12700">
            <a:solidFill>
              <a:srgbClr val="FF79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3400" y="43525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7900"/>
                </a:solidFill>
              </a:rPr>
              <a:t>Refus 409 si la somme dépasse la capacité de la semaine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11480" y="43342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B828C"/>
                </a:solidFill>
              </a:rPr>
              <a:t>Le contrôle porte sur la somme des objectifs du porteur sur la semaine, non sur chaque ligne isolément.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Architecture des données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28C"/>
                </a:solidFill>
              </a:rPr>
              <a:t>Diagramme conceptuel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612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" y="1426464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heuresParJour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minutesDaily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22860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50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" y="2615184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rôle, actif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squadId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14600" y="109728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7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1612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87752" y="1426464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ticket Perfit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enveloppe, SP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statut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14600" y="22860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2350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87752" y="2615184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projet × porteur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17720" y="109728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1612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90872" y="1426464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numéro, période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capacitéTotale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17720" y="22860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350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90872" y="2615184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capacité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clôturée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20840" y="16916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7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7556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93992" y="2020824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heures prévues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réel, statut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17720" y="34747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3538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90872" y="3803904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type, statut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validé par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720840" y="34747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3538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93992" y="3803904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fait, coché par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14600" y="34747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3538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587752" y="3803904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heures, statut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11480" y="34747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538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4632" y="3803904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bilan, points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371600" y="2011680"/>
            <a:ext cx="0" cy="27432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331720" y="1554480"/>
            <a:ext cx="182880" cy="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331720" y="2743200"/>
            <a:ext cx="182880" cy="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434840" y="1554480"/>
            <a:ext cx="182880" cy="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577840" y="2011680"/>
            <a:ext cx="0" cy="27432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537960" y="2148840"/>
            <a:ext cx="182880" cy="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537960" y="3931920"/>
            <a:ext cx="182880" cy="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B1A17"/>
                </a:solidFill>
              </a:rPr>
              <a:t>Le projet porte l’enveloppe une seule fois ; l’entrée hebdomadaire ne porte que les heures de sa semaine et s’y impute. Cette séparation est la correction structurante de la version.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Architecture applicative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28C"/>
                </a:solidFill>
              </a:rPr>
              <a:t>Black boxes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4858"/>
                </a:solidFill>
              </a:rPr>
              <a:t>Navigateur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" y="1563624"/>
            <a:ext cx="16824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Poste collaborateur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HTTPS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0" y="1051560"/>
            <a:ext cx="329184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875">
            <a:solidFill>
              <a:srgbClr val="FF7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1155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900"/>
                </a:solidFill>
              </a:rPr>
              <a:t>Sprint Tracker (Next.js)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16352" y="1380744"/>
            <a:ext cx="314553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Rendu serveur React 19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Routes API applicatives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Contrôle des droits et du périmètre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37960" y="123444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2984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4858"/>
                </a:solidFill>
              </a:rPr>
              <a:t>PostgreSQL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11112" y="1563624"/>
            <a:ext cx="20482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Prisma ORM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Base managée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0" y="2743200"/>
            <a:ext cx="15544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7B82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28072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828C"/>
                </a:solidFill>
              </a:rPr>
              <a:t>Keycloak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16352" y="3072384"/>
            <a:ext cx="14081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Identités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(cible)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26280" y="2743200"/>
            <a:ext cx="15087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2F48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8072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4858"/>
                </a:solidFill>
              </a:rPr>
              <a:t>Dépôt Git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99432" y="3072384"/>
            <a:ext cx="13624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Classeur Excel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publié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537960" y="2743200"/>
            <a:ext cx="21945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7B82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8072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828C"/>
                </a:solidFill>
              </a:rPr>
              <a:t>Documenso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11112" y="3072384"/>
            <a:ext cx="204825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B1A17"/>
                </a:solidFill>
              </a:rPr>
              <a:t>Dossier signé (cible)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40280" y="1691640"/>
            <a:ext cx="502920" cy="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943100" y="1545336"/>
            <a:ext cx="109728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28C"/>
                </a:solidFill>
              </a:rPr>
              <a:t>HTTPS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035040" y="1691640"/>
            <a:ext cx="502920" cy="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737860" y="1545336"/>
            <a:ext cx="109728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28C"/>
                </a:solidFill>
              </a:rPr>
              <a:t>TCP/IP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520440" y="2331720"/>
            <a:ext cx="0" cy="411480"/>
          </a:xfrm>
          <a:prstGeom prst="line">
            <a:avLst/>
          </a:prstGeom>
          <a:noFill/>
          <a:ln w="15875">
            <a:solidFill>
              <a:srgbClr val="7B828C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937760" y="2331720"/>
            <a:ext cx="0" cy="411480"/>
          </a:xfrm>
          <a:prstGeom prst="line">
            <a:avLst/>
          </a:prstGeom>
          <a:noFill/>
          <a:ln w="15875">
            <a:solidFill>
              <a:srgbClr val="7B828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15200" y="2331720"/>
            <a:ext cx="0" cy="411480"/>
          </a:xfrm>
          <a:prstGeom prst="line">
            <a:avLst/>
          </a:prstGeom>
          <a:noFill/>
          <a:ln w="15875">
            <a:solidFill>
              <a:srgbClr val="7B828C"/>
            </a:solidFill>
            <a:prstDash val="dash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1148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828C"/>
                </a:solidFill>
              </a:rPr>
              <a:t>— — —  cible, non implémenté à ce jour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023360"/>
          <a:ext cx="8321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4864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Composant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Responsabilité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État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Sprint Tracker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Rendu, règles métier, contrôle d’accès, calculs de capacité et d’engagement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En service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PostgreSQL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Persistance : squads, comptes, sprints, projets, objectifs, checklists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En service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Keycloak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Authentification et attribution des rôles depuis l’AD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Environnement prêt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Documenso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Dépôt et signature du dossier documentaire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Non démarré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Architecture technique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8321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  <a:gridCol w="82296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Couche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Technologie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Justification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Exécution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Node.js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20 LTS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Support long terme, aligné sur la plateforme d’hébergement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Applicatif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Next.js App Router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Rendu serveur et routes API dans un seul artefact déployable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Interface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React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Composants serveur : aucun secret ni règle de droit exposé au client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Langage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JavaScript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ES2023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Pas de TypeScript : contrainte assumée du socle existant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Accès données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Prisma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Schéma déclaratif, migrations SQL versionnées à la main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Base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PostgreSQL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Base managée, sauvegardes et haute disponibilité fournies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Identités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Session signée en cookie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Scrypt sans dépendance externe ; cible OIDC Keycloak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Hébergement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Vercel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Déploiement continu depuis la branche principale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41605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0392B"/>
                </a:solidFill>
              </a:rPr>
              <a:t>Point d’attention : le déploiement n’applique pas les migrations. Toute évolution de schéma est appliquée en base avant la mise en ligne du code qui en dépend, sous peine d’indisponibilité.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Matrice des flux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8321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108960"/>
                <a:gridCol w="1737360"/>
                <a:gridCol w="118872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N° flux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 / Rôle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Protocole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Destination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Interactions client / serveur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Navigateur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HTTPS / 443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Sprint Tracker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Lecture et écriture des données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Sprint Tracker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TCP/IP / 5432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PostgreSQL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Consultation publique du suivi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Navigateur (non authentifié)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HTTPS / 443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Sprint Tracker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Publication du classeur de suivi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Sprint Tracker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HTTPS / 443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Dépôt Git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Authentification — obtention du jeton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Navigateur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HTTPS / 443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Keycloak (cible)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Authentification — validation du jeton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Sprint Tracker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HTTPS / 443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Keycloak (cible)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Dépôt du dossier documentaire signé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Sprint Tracker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HTTPS / 443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Documenso (cible)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39776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B1A17"/>
                </a:solidFill>
              </a:rPr>
              <a:t>Aucun flux entrant depuis Internet autre que le port 443. Aucune donnée d’abonné n’est traitée : les données sont professionnelles (identité, rôle, temps de travail des collaborateurs).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Stratégie de migration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8321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1206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Étape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Contenu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Réversibilité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1 — Socle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Squads, comptes, rôles, sprints et objectifs. Reprise du classeur Excel existant.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Classeur conservé en lecture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2 — Capacité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Bascule du chiffre déclaré vers le calcul. Recalcul des sprints ouverts.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Valeurs recalculables à tout moment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3 — Portefeuille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Création des projets depuis les faisabilités, rattachement des objectifs par ticket.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Migration additive, aucun effacement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4 — Conformité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Amorçage du référentiel de checklist, ouverture des instances sur les tickets en cours.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Référentiel modifiable par le super admin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5 — Identités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Bascule vers Keycloak, rapprochement des comptes par courriel.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Retour au mode local par variable d’environnement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3520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858"/>
                </a:solidFill>
              </a:rPr>
              <a:t>Règles appliquées à toute migration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" y="379476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1B1A17"/>
                </a:solidFill>
              </a:rPr>
              <a:t>Migration SQL versionnée et idempotente, rejouable sans effet de bord</a:t>
            </a:r>
            <a:endParaRPr lang="en-US" sz="9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1B1A17"/>
                </a:solidFill>
              </a:rPr>
              <a:t>Application en base avant la mise en ligne du code qui en dépend</a:t>
            </a:r>
            <a:endParaRPr lang="en-US" sz="9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1B1A17"/>
                </a:solidFill>
              </a:rPr>
              <a:t>Surface publique dégradée plutôt qu’indisponible si une table secondaire manque</a:t>
            </a:r>
            <a:endParaRPr lang="en-US" sz="9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1B1A17"/>
                </a:solidFill>
              </a:rPr>
              <a:t>Aucune suppression de donnée métier : les enrichissements sont additifs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Monitoring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83210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0312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Indicateur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Seuil d’alerte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Nombre de requêtes HTTP en succès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Journal applicatif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Nombre de requêtes HTTP en échec (5xx)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Journal applicatif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&gt; 1 % des requêtes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Nombre de requêtes HTTP en timeout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Journal applicatif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&gt; 0,5 % des requêtes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Refus pour droits insuffisants (403)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Journal applicatif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Pic anormal : tentative d’accès hors périmètre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Exceptions base de données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Journal applicatif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Toute occurrence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Disponibilité du tableau public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Sonde externe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&lt; 99 % sur 24 h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Écart entre schéma déployé et schéma attendu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Contrôle au démarrage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Toute occurrence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39776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B1A17"/>
                </a:solidFill>
              </a:rPr>
              <a:t>L’indicateur d’écart de schéma répond directement à l’incident constaté : du code déployé sans ses tables a mis la surface publique en erreur. Sa détection doit précéder l’appel utilisateur.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Exigences Core Network et adressage IP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8321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84632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Exigence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Besoin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Adressage IP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Aucune adresse fixe requise — application servie par la plateforme d’hébergement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Sans objet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Ouverture de flux entrant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HTTPS / 443 depuis le réseau interne et Internet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En service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Ouverture de flux sortant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TCP 5432 vers la base managée ; HTTPS 443 vers le dépôt Git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En service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Flux vers Keycloak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HTTPS 443 vers l’instance d’authentification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À ouvrir — cible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Certificat TLS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Certificat géré par la plateforme, renouvellement automatique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En service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Résolution DNS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Nom de service public ; nom interne à arbitrer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À arbitrer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Sauvegarde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Sauvegarde quotidienne de la base, rétention à définir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A17"/>
                          </a:solidFill>
                        </a:rPr>
                        <a:t>À arbitrer</a:t>
                      </a:r>
                      <a:endParaRPr lang="en-US" sz="9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40233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828C"/>
                </a:solidFill>
              </a:rPr>
              <a:t>Aucune exigence Core Network spécifique : l’application ne porte ni trafic voix, ni signalisation, ni donnée d’abonné.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Points soumis à l’arbitrage du comité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8321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39496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Sujet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85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Chaîne de validation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Fermer la chaîne à la validation de la checklist, et non au seul changement de statut : aujourd’hui une checklist Go Live peut être validée sans DAB ni CAB ACL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Signatures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La Checklist Factory exige trois signatures — Scrum Master, Lead technique, Product Owner. La plateforme n’en enregistre qu’une et le rôle Product Owner n’existe pas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Documenso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Dépôt du dossier signé : PDF imprimable ou transmission par interface ?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À arbitrer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Keycloak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Instance cible, compte de secours local, source du rattachement à la squad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À arbitrer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Migrations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Intégrer l’application des migrations au déploiement pour supprimer le risque d’écart de schéma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A17"/>
                          </a:solidFill>
                        </a:rPr>
                        <a:t>Recommandé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19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A17"/>
                </a:solidFill>
              </a:rPr>
              <a:t>DÉCISION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952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28C"/>
                </a:solidFill>
              </a:rPr>
              <a:t>Interne Orange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A17"/>
                </a:solidFill>
              </a:rPr>
              <a:t>Nous recommandons la validation des designs et l’autorisation formelle du DAB pour le démarrage des implémentations restantes.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2651760" cy="731520"/>
          </a:xfrm>
          <a:prstGeom prst="rect">
            <a:avLst/>
          </a:prstGeom>
          <a:solidFill>
            <a:srgbClr val="FFFFFF"/>
          </a:solidFill>
          <a:ln w="22225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No GO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1783080"/>
            <a:ext cx="2651760" cy="731520"/>
          </a:xfrm>
          <a:prstGeom prst="rect">
            <a:avLst/>
          </a:prstGeom>
          <a:solidFill>
            <a:srgbClr val="FFFFFF"/>
          </a:solidFill>
          <a:ln w="22225">
            <a:solidFill>
              <a:srgbClr val="FF7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900"/>
                </a:solidFill>
              </a:rPr>
              <a:t>GO sous réserves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80760" y="1783080"/>
            <a:ext cx="2651760" cy="731520"/>
          </a:xfrm>
          <a:prstGeom prst="rect">
            <a:avLst/>
          </a:prstGeom>
          <a:solidFill>
            <a:srgbClr val="FFFFFF"/>
          </a:solidFill>
          <a:ln w="22225">
            <a:solidFill>
              <a:srgbClr val="1F8A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8A4C"/>
                </a:solidFill>
              </a:rPr>
              <a:t>GO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858"/>
                </a:solidFill>
              </a:rPr>
              <a:t>Commentaires / Actions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063240"/>
            <a:ext cx="8321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346704"/>
            <a:ext cx="7955280" cy="0"/>
          </a:xfrm>
          <a:prstGeom prst="line">
            <a:avLst/>
          </a:prstGeom>
          <a:noFill/>
          <a:ln w="9525">
            <a:solidFill>
              <a:srgbClr val="EDEB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630168"/>
            <a:ext cx="7955280" cy="0"/>
          </a:xfrm>
          <a:prstGeom prst="line">
            <a:avLst/>
          </a:prstGeom>
          <a:noFill/>
          <a:ln w="9525">
            <a:solidFill>
              <a:srgbClr val="EDEB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913632"/>
            <a:ext cx="7955280" cy="0"/>
          </a:xfrm>
          <a:prstGeom prst="line">
            <a:avLst/>
          </a:prstGeom>
          <a:noFill/>
          <a:ln w="9525">
            <a:solidFill>
              <a:srgbClr val="EDEB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197096"/>
            <a:ext cx="7955280" cy="0"/>
          </a:xfrm>
          <a:prstGeom prst="line">
            <a:avLst/>
          </a:prstGeom>
          <a:noFill/>
          <a:ln w="9525">
            <a:solidFill>
              <a:srgbClr val="EDEB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28C"/>
                </a:solidFill>
              </a:rPr>
              <a:t>Date : ____ / ____ / ________          Président du DAB : ______________________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777240" cy="777240"/>
          </a:xfrm>
          <a:prstGeom prst="rect">
            <a:avLst/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Merci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7900"/>
                </a:solidFill>
              </a:rPr>
              <a:t>Seul on va plus vite, ensemble on va plus loin !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Orange Cameroun, 2026 · Interne Orange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Orange Cameroun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Authority Board — SPRINT TRACKER</dc:title>
  <dc:subject>Dossier de passage en DAB</dc:subject>
  <dc:creator>FOKA Emmanuel</dc:creator>
  <cp:lastModifiedBy>FOKA Emmanuel</cp:lastModifiedBy>
  <cp:revision>1</cp:revision>
  <dcterms:created xsi:type="dcterms:W3CDTF">2026-08-27T04:30:06Z</dcterms:created>
  <dcterms:modified xsi:type="dcterms:W3CDTF">2026-08-27T04:30:06Z</dcterms:modified>
</cp:coreProperties>
</file>